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3A46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2E3A46"/>
                </a:solidFill>
                <a:latin typeface="Arial"/>
              </a:rPr>
              <a:t>세종시 연령대별 순이동 추이 </a:t>
            </a:r>
            <a:r>
              <a:rPr lang="en-US" altLang="ko-KR" sz="1200" b="0" i="0" u="none" strike="noStrike">
                <a:solidFill>
                  <a:srgbClr val="2E3A46"/>
                </a:solidFill>
                <a:latin typeface="Arial"/>
              </a:rPr>
              <a:t>(</a:t>
            </a:r>
            <a:r>
              <a:rPr lang="ko-KR" altLang="en-US" sz="1200" b="0" i="0" u="none" strike="noStrike">
                <a:solidFill>
                  <a:srgbClr val="2E3A46"/>
                </a:solidFill>
                <a:latin typeface="Arial"/>
              </a:rPr>
              <a:t>명</a:t>
            </a:r>
            <a:r>
              <a:rPr lang="en-US" altLang="ko-KR" sz="1200" b="0" i="0" u="none" strike="noStrike">
                <a:solidFill>
                  <a:srgbClr val="2E3A46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청년(20~39세) 순이동</c:v>
                </c:pt>
              </c:strCache>
            </c:strRef>
          </c:tx>
          <c:spPr>
            <a:ln w="31750" cap="flat">
              <a:solidFill>
                <a:srgbClr val="005B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5BAC"/>
              </a:solidFill>
              <a:ln w="9525" cap="flat">
                <a:solidFill>
                  <a:srgbClr val="005BA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12581</c:v>
                </c:pt>
                <c:pt idx="1">
                  <c:v>9664</c:v>
                </c:pt>
                <c:pt idx="2">
                  <c:v>5285</c:v>
                </c:pt>
                <c:pt idx="3">
                  <c:v>6105</c:v>
                </c:pt>
                <c:pt idx="4">
                  <c:v>4471</c:v>
                </c:pt>
                <c:pt idx="5">
                  <c:v>1555</c:v>
                </c:pt>
                <c:pt idx="6">
                  <c:v>1765</c:v>
                </c:pt>
                <c:pt idx="7">
                  <c:v>1245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DD-D444-A57A-A46C4982A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20~24세 순이동</c:v>
                </c:pt>
              </c:strCache>
            </c:strRef>
          </c:tx>
          <c:spPr>
            <a:ln w="31750" cap="flat">
              <a:solidFill>
                <a:srgbClr val="C23B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23B3B"/>
              </a:solidFill>
              <a:ln w="9525" cap="flat">
                <a:solidFill>
                  <a:srgbClr val="C23B3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1851</c:v>
                </c:pt>
                <c:pt idx="1">
                  <c:v>954</c:v>
                </c:pt>
                <c:pt idx="2">
                  <c:v>334</c:v>
                </c:pt>
                <c:pt idx="3">
                  <c:v>636</c:v>
                </c:pt>
                <c:pt idx="4">
                  <c:v>223</c:v>
                </c:pt>
                <c:pt idx="5">
                  <c:v>-261</c:v>
                </c:pt>
                <c:pt idx="6">
                  <c:v>-393</c:v>
                </c:pt>
                <c:pt idx="7">
                  <c:v>-479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DD-D444-A57A-A46C4982A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E3A4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3A46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2E3A46"/>
                </a:solidFill>
                <a:latin typeface="Arial"/>
              </a:rPr>
              <a:t>재정자립도 추이 </a:t>
            </a:r>
            <a:r>
              <a:rPr lang="en-US" altLang="ko-KR" sz="1200" b="0" i="0" u="none" strike="noStrike">
                <a:solidFill>
                  <a:srgbClr val="2E3A46"/>
                </a:solidFill>
                <a:latin typeface="Arial"/>
              </a:rPr>
              <a:t>(</a:t>
            </a:r>
            <a:r>
              <a:rPr lang="ko-KR" altLang="en-US" sz="1200" b="0" i="0" u="none" strike="noStrike">
                <a:solidFill>
                  <a:srgbClr val="2E3A46"/>
                </a:solidFill>
                <a:latin typeface="Arial"/>
              </a:rPr>
              <a:t>당초예산</a:t>
            </a:r>
            <a:r>
              <a:rPr lang="en-US" altLang="ko-KR" sz="1200" b="0" i="0" u="none" strike="noStrike">
                <a:solidFill>
                  <a:srgbClr val="2E3A46"/>
                </a:solidFill>
                <a:latin typeface="Arial"/>
              </a:rPr>
              <a:t>, 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세종시</c:v>
                </c:pt>
              </c:strCache>
            </c:strRef>
          </c:tx>
          <c:spPr>
            <a:ln w="31750" cap="flat">
              <a:solidFill>
                <a:srgbClr val="005B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5BAC"/>
              </a:solidFill>
              <a:ln w="9525" cap="flat">
                <a:solidFill>
                  <a:srgbClr val="005BA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57.55</c:v>
                </c:pt>
                <c:pt idx="1">
                  <c:v>54.31</c:v>
                </c:pt>
                <c:pt idx="2">
                  <c:v>51.56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09-6C49-B00B-9FB74028FB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특·광역시 평균</c:v>
                </c:pt>
              </c:strCache>
            </c:strRef>
          </c:tx>
          <c:spPr>
            <a:ln w="31750" cap="flat">
              <a:solidFill>
                <a:srgbClr val="9AB3C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9AB3C9"/>
              </a:solidFill>
              <a:ln w="9525" cap="flat">
                <a:solidFill>
                  <a:srgbClr val="9AB3C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43.57</c:v>
                </c:pt>
                <c:pt idx="1">
                  <c:v>42.93</c:v>
                </c:pt>
                <c:pt idx="2">
                  <c:v>41.75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09-6C49-B00B-9FB74028F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35"/>
        </c:scaling>
        <c:delete val="0"/>
        <c:axPos val="l"/>
        <c:majorGridlines>
          <c:spPr>
            <a:ln w="6350" cap="flat">
              <a:solidFill>
                <a:srgbClr val="E3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E3A4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00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50292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0924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제1회 세종캠퍼스 체인지메이커스 · 활동 제안서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청정(靑定) 세종 프로젝트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청년·신혼부부 주거지원 정책 사각지대 해소 및 맞춤형 주거지원 웹/앱 기획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3931920" cy="25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767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5명의 깊은 지원에서, 더 많은 청년의 첫 진입 비용을 낮추는 지원으로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40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청년이 자리를 정하는 세종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도건우(대표) · 강나연 · 강예진 · 이윤진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 |  고려대학교 세종캠퍼스 · 세종지속가능원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①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청년 흡인력의 소멸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37160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31520" y="5989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통계청 국내인구이동통계 (분기 합산, 2026.9 추출)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63840" y="137160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001000" y="1481328"/>
            <a:ext cx="338328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12,581 → 1,245명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10860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순유입, 7년 만에 1/10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2382926"/>
            <a:ext cx="33832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20~39세 연간 순이동 (2018 → 2025)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0" y="292608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001000" y="3035808"/>
            <a:ext cx="338328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−479명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66308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20~24세는 순유출 전환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3937406"/>
            <a:ext cx="33832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2023년부터 3년 연속 유출, 매년 확대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63840" y="448056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01000" y="4590288"/>
            <a:ext cx="338328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9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+82명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1756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 청년 순이동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5491886"/>
            <a:ext cx="338328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인구 −1,866명 유출 속 사실상 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 제약: 자립도가 아니라 규모·경직성·수지의 문제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41732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만에 −5.99%p, 동종단체 평균 하락 속도의 3.3배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263640" y="152704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−9.05%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통합재정수지비율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5237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특·광역시 중 최하위 (평균 −1.86%), FY2024 결산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15400" y="1417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052560" y="152704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9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11.46%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공무원인건비비율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25237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동종단체 최고 · 평균(3.23%)의 3.5배 — 경직성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315468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263640" y="326440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9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14.90%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지방세 감면율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42611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평균(8.55%)의 1.7배, 추가 감면 여력 소진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915400" y="315468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052560" y="326440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−3.5%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지역통합재정규모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42611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FY2024→26 총량 축소, 동종평균은 +4.9%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580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“재정적 인센티브를 충분히 제공해야 하는데, 세종시는 재정이 열악하여 어려웠다”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이승원 前 세종시 경제부시장, 팀 서면 인터뷰(2026.9). 새 지출 여력이 아니라 기존 예산의 재배분이 답이 되어야 하는 이유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263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지방재정365 FY2024~2026 총괄 공시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③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이자지원사업: 연 5명의 문, 그리고 사각지대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4297680" cy="3383280"/>
          </a:xfrm>
          <a:prstGeom prst="roundRect">
            <a:avLst>
              <a:gd name="adj" fmla="val 1622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14813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주택임차보증금 이자지원사업 (2026 공고)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057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 구조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하나은행 재원 + 주택금융공사 보증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3840480" cy="0"/>
          </a:xfrm>
          <a:prstGeom prst="line">
            <a:avLst/>
          </a:prstGeom>
          <a:noFill/>
          <a:ln w="635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2578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내용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은행금리 중 최대 4.1%p 이자를 시가 부담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81528"/>
            <a:ext cx="3840480" cy="0"/>
          </a:xfrm>
          <a:prstGeom prst="line">
            <a:avLst/>
          </a:prstGeom>
          <a:noFill/>
          <a:ln w="635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30998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한도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1억원 (보증금의 90% 이내)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602736"/>
            <a:ext cx="3840480" cy="0"/>
          </a:xfrm>
          <a:prstGeom prst="line">
            <a:avLst/>
          </a:prstGeom>
          <a:noFill/>
          <a:ln w="635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14400" y="36210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기간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621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2년, 2회 연장 — 최장 6년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123944"/>
            <a:ext cx="3840480" cy="0"/>
          </a:xfrm>
          <a:prstGeom prst="line">
            <a:avLst/>
          </a:prstGeom>
          <a:noFill/>
          <a:ln w="635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41422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모집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5명 (예산 소진 시까지 상시)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846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신규 모집인원 · 세종시 20~39세 인구 약 11만 명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연 최대 410만원이 최장 6년 누적되는 고단가 구조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1325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공고·FAQ에서 확인되는 구조적 배제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94960" y="1865376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394960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17830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주택도시기금 대출자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버팀목·중기청 대출과 중복 불가 — 국가 지원과 양자택일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2432304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39496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235000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주거급여 수급자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최저소득층이 제도 밖에 위치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2999232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39496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2916936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다중주택 거주자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‘원룸’ 계약서도 실제로는 다중주택인 경우 다수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3566160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3949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348386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거주 청년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갱신·재계약 불가 — 신규 임차 계약만 인정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94960" y="4133088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39496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405079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전세대출 보유자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중복대출·대환 모두 불가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0" y="4700016"/>
            <a:ext cx="274320" cy="274320"/>
          </a:xfrm>
          <a:prstGeom prst="ellipse">
            <a:avLst/>
          </a:prstGeom>
          <a:solidFill>
            <a:srgbClr val="C23B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539496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461772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 1회 제한   </a:t>
            </a: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이용하면 재진입 불가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49240" y="5349240"/>
            <a:ext cx="6263640" cy="868680"/>
          </a:xfrm>
          <a:prstGeom prst="roundRect">
            <a:avLst>
              <a:gd name="adj" fmla="val 6316"/>
            </a:avLst>
          </a:prstGeom>
          <a:solidFill>
            <a:srgbClr val="FBEDEA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577840" y="54406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전입예정자를 포함한다면서, 선정 2순위는 ‘세종시 거주기간이 많은 자’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지역 청년 유입을 표방하는 사업이 선발 기준에서는 기존 거주자를 우대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현황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시작했습니다: 전직 경제부시장 자문과 1차 자료 분석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806440" cy="4846320"/>
          </a:xfrm>
          <a:prstGeom prst="roundRect">
            <a:avLst>
              <a:gd name="adj" fmla="val 1132"/>
            </a:avLst>
          </a:prstGeom>
          <a:solidFill>
            <a:srgbClr val="EDF4FB"/>
          </a:solidFill>
          <a:ln w="15875">
            <a:solidFill>
              <a:srgbClr val="005BA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32688" y="148132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 인터뷰 완료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830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이승원  前 세종특별자치시 경제부시장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기획재정부 출신 · 세종시 투자유치 및 청년정책 총괄  |  5개 문항 서면 질의, 2026. 9. 7. 회신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2688" y="2697480"/>
            <a:ext cx="5303520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1"/>
          <p:cNvSpPr/>
          <p:nvPr/>
        </p:nvSpPr>
        <p:spPr>
          <a:xfrm>
            <a:off x="932688" y="2889504"/>
            <a:ext cx="50292" cy="868680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15568" y="28529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“일자리는 빨라야 2030년”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18211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경제자유구역·스마트국가산단이 실제 청년 일자리로 이어지기까지 시간이 걸리며, 정주여건 개선은 그 전에 사전적으로 이루어져야 한다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" y="3977640"/>
            <a:ext cx="50292" cy="868680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15568" y="39410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“가장 큰 애로는 재정”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27024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유망기업 유치에도 청년 전입 유도에도 재정적 인센티브가 필요하나, 세종시는 재정이 열악해 충분히 제공하기 어려웠다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" y="5065776"/>
            <a:ext cx="50292" cy="868680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115568" y="5029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“우선순위는 주거 지원”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35838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정주여건을 위해 가장 필요한 것은 원룸·오피스텔 확충과 임차료 지원·전세금 대출 등 주거 지원 대책이다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37160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마친 1차 자료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12280" y="1810512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2"/>
          <p:cNvSpPr/>
          <p:nvPr/>
        </p:nvSpPr>
        <p:spPr>
          <a:xfrm>
            <a:off x="6976872" y="2020824"/>
            <a:ext cx="237744" cy="237744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76872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18836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지방재정365 공시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21396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FY2024~2026 세종시 총괄 재정지표 3개년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12280" y="2560320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Shape 27"/>
          <p:cNvSpPr/>
          <p:nvPr/>
        </p:nvSpPr>
        <p:spPr>
          <a:xfrm>
            <a:off x="6976872" y="2770632"/>
            <a:ext cx="237744" cy="237744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976872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333488" y="2633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사업 공고 · FAQ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28895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자격·제외·선정 요건 전수 분석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3310128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32"/>
          <p:cNvSpPr/>
          <p:nvPr/>
        </p:nvSpPr>
        <p:spPr>
          <a:xfrm>
            <a:off x="6976872" y="3520440"/>
            <a:ext cx="237744" cy="237744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976872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33488" y="3383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주거실태조사 (국토부, 2024)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333488" y="36393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청년가구 주거비 부담·정책 수요·이동 사유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4059936"/>
            <a:ext cx="4800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7"/>
          <p:cNvSpPr/>
          <p:nvPr/>
        </p:nvSpPr>
        <p:spPr>
          <a:xfrm>
            <a:off x="6976872" y="4270248"/>
            <a:ext cx="237744" cy="237744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976872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33488" y="41330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국내인구이동통계 (통계청)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333488" y="4389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연령대별 순이동 2018~2026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12280" y="4892040"/>
            <a:ext cx="4800600" cy="1280160"/>
          </a:xfrm>
          <a:prstGeom prst="roundRect">
            <a:avLst>
              <a:gd name="adj" fmla="val 4286"/>
            </a:avLst>
          </a:prstGeom>
          <a:solidFill>
            <a:srgbClr val="0A3D74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040880" y="50109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자문은 1회성이 아닙니다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이승원 前 부시장 지속 자문 · 세종시 청년정책담당관 및 청년희망내일센터 면담 추진 · 1주차와 6주차에 전·현직 실무자 자문 미팅 2회 계획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685800" y="1176108"/>
            <a:ext cx="1965960" cy="1783080"/>
          </a:xfrm>
          <a:prstGeom prst="roundRect">
            <a:avLst>
              <a:gd name="adj" fmla="val 3077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476756" y="13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179790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입력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819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소득·자산·가구·주택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1930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07792" y="1176108"/>
            <a:ext cx="1965960" cy="1783080"/>
          </a:xfrm>
          <a:prstGeom prst="roundRect">
            <a:avLst>
              <a:gd name="adj" fmla="val 3077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698748" y="13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179790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진단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99232" y="21819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국가+세종시 사업 매칭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1930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9784" y="1176108"/>
            <a:ext cx="1965960" cy="1783080"/>
          </a:xfrm>
          <a:prstGeom prst="roundRect">
            <a:avLst>
              <a:gd name="adj" fmla="val 3077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920740" y="13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179790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수혜 안내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21224" y="21819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경로·서류 원클릭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1930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176108"/>
            <a:ext cx="1965960" cy="1783080"/>
          </a:xfrm>
          <a:prstGeom prst="roundRect">
            <a:avLst>
              <a:gd name="adj" fmla="val 3077"/>
            </a:avLst>
          </a:prstGeom>
          <a:solidFill>
            <a:srgbClr val="FFF9EF"/>
          </a:solidFill>
          <a:ln w="12700">
            <a:solidFill>
              <a:srgbClr val="A98A5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142732" y="13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24928" y="179790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판정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43216" y="21819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‘해당 없음’의 사유 기록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99448" y="1930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73768" y="1176108"/>
            <a:ext cx="1965960" cy="1783080"/>
          </a:xfrm>
          <a:prstGeom prst="roundRect">
            <a:avLst>
              <a:gd name="adj" fmla="val 3077"/>
            </a:avLst>
          </a:prstGeom>
          <a:solidFill>
            <a:srgbClr val="FFF9EF"/>
          </a:solidFill>
          <a:ln w="12700">
            <a:solidFill>
              <a:srgbClr val="A98A5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0364724" y="132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179790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역제안 수집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665208" y="21819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지원 직접 응답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해결방안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주거지원 플랫폼: 안내를 넘어 사각지대를 기록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44" name="그림 43" descr="텍스트, 휴대 전화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760BA3-C0C3-037A-0E42-6F6C86FB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8" t="8132" r="1488" b="4467"/>
          <a:stretch>
            <a:fillRect/>
          </a:stretch>
        </p:blipFill>
        <p:spPr>
          <a:xfrm>
            <a:off x="532344" y="3169674"/>
            <a:ext cx="11544888" cy="3573442"/>
          </a:xfrm>
          <a:prstGeom prst="rect">
            <a:avLst/>
          </a:prstGeom>
        </p:spPr>
      </p:pic>
      <p:pic>
        <p:nvPicPr>
          <p:cNvPr id="53" name="그림 52" descr="예술, 그래픽, 그래픽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1DA50F-74C9-7668-CC65-3E60AB4B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3" y="40331"/>
            <a:ext cx="1965961" cy="1106123"/>
          </a:xfrm>
          <a:prstGeom prst="rect">
            <a:avLst/>
          </a:prstGeom>
        </p:spPr>
      </p:pic>
      <p:sp>
        <p:nvSpPr>
          <p:cNvPr id="54" name="Text 32">
            <a:extLst>
              <a:ext uri="{FF2B5EF4-FFF2-40B4-BE49-F238E27FC236}">
                <a16:creationId xmlns:a16="http://schemas.microsoft.com/office/drawing/2014/main" id="{C0833817-C4A5-5C41-AF7F-140FA9DA3047}"/>
              </a:ext>
            </a:extLst>
          </p:cNvPr>
          <p:cNvSpPr txBox="1"/>
          <p:nvPr/>
        </p:nvSpPr>
        <p:spPr>
          <a:xfrm>
            <a:off x="10405872" y="474403"/>
            <a:ext cx="756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400" b="1" dirty="0">
                <a:latin typeface="Arial" pitchFamily="34" charset="0"/>
                <a:cs typeface="Arial" pitchFamily="34" charset="-120"/>
              </a:rPr>
              <a:t>&lt;=</a:t>
            </a:r>
            <a:r>
              <a:rPr lang="ko-KR" altLang="en-US" sz="1400" b="1" dirty="0">
                <a:latin typeface="Arial" pitchFamily="34" charset="0"/>
                <a:cs typeface="Arial" pitchFamily="34" charset="-120"/>
              </a:rPr>
              <a:t>팀 </a:t>
            </a:r>
            <a:r>
              <a:rPr lang="en-US" altLang="ko-KR" sz="1400" b="1" dirty="0">
                <a:latin typeface="Arial" pitchFamily="34" charset="0"/>
                <a:cs typeface="Arial" pitchFamily="34" charset="-120"/>
              </a:rPr>
              <a:t>BI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설문에서 정책 제안까지: 6단계 실행 경로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실수요자 설문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523744"/>
            <a:ext cx="1536192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04672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거주·전입 희망 청년 대상.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제도 인지도, 탈락 경험,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부담 비용 항목 조사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52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9464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688336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688336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수집·분석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2–3주차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88336" y="2523744"/>
            <a:ext cx="1536192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688336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정보공개청구(예산·신청·선정),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공고·FAQ 요건의 규칙화,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유형 도출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06824" y="2852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53128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572000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개발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523744"/>
            <a:ext cx="1536192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572000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웹앱 구축.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진단 로직 + 사각지대 판정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역제안 수집 모듈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90488" y="2852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36792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55664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55664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테스트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55664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55664" y="2523744"/>
            <a:ext cx="1536192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455664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실수요 청년 대상 사용성 테스트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2회. 진단 정확도와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이해도 검증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074152" y="2852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20456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EDF4FB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339328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개선·고도화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39328" y="2523744"/>
            <a:ext cx="1536192" cy="0"/>
          </a:xfrm>
          <a:prstGeom prst="line">
            <a:avLst/>
          </a:prstGeom>
          <a:noFill/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8339328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반영 기능 확장,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시각화 대시보드,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안정화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957816" y="28529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104120" y="1371600"/>
            <a:ext cx="1773936" cy="3200400"/>
          </a:xfrm>
          <a:prstGeom prst="roundRect">
            <a:avLst>
              <a:gd name="adj" fmla="val 3093"/>
            </a:avLst>
          </a:prstGeom>
          <a:solidFill>
            <a:srgbClr val="0A3D74"/>
          </a:solidFill>
          <a:ln w="12700">
            <a:solidFill>
              <a:srgbClr val="0A3D7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222992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C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10222992" y="1874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제안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0222992" y="22128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D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9–10주차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222992" y="2523744"/>
            <a:ext cx="1536192" cy="0"/>
          </a:xfrm>
          <a:prstGeom prst="line">
            <a:avLst/>
          </a:prstGeom>
          <a:noFill/>
          <a:ln w="12700">
            <a:solidFill>
              <a:srgbClr val="3A6A9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222992" y="2615184"/>
            <a:ext cx="1536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 기반 정책 건의서.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청년정책담당관 전달 및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성과발표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85800" y="5193792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868680" y="5285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주거지원 플랫폼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6868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배포된 웹 프로토타입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416552" y="5193792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4599432" y="5285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유형 분석 리포트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4599432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설문·플랫폼 수집 데이터 기반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47304" y="5193792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330184" y="5285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건의서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330184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청년정책담당관 전달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작업가설: 1인당 고단가 이자지원의 일부를 중개보수·보증료 등 초기 진입비용 지원으로 전환하면 동일 예산으로 수혜 인원을 넓힐 수 있다 — 설문과 데이터로 검증 후 확정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시연: 진단 · 사각지대 판정 · 역제안 수집이 한 화면에서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52" name="Text 150"/>
          <p:cNvSpPr txBox="1"/>
          <p:nvPr/>
        </p:nvSpPr>
        <p:spPr>
          <a:xfrm>
            <a:off x="4709160" y="12984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영역 확대 — 진단 결과 패널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4709160" y="1591056"/>
            <a:ext cx="3246120" cy="4709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4" name="Shape 152"/>
          <p:cNvSpPr/>
          <p:nvPr/>
        </p:nvSpPr>
        <p:spPr>
          <a:xfrm>
            <a:off x="4855464" y="1755648"/>
            <a:ext cx="2953512" cy="1115568"/>
          </a:xfrm>
          <a:prstGeom prst="roundRect">
            <a:avLst>
              <a:gd name="adj" fmla="val 4098"/>
            </a:avLst>
          </a:prstGeom>
          <a:solidFill>
            <a:srgbClr val="07294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5" name="Shape 153"/>
          <p:cNvSpPr/>
          <p:nvPr/>
        </p:nvSpPr>
        <p:spPr>
          <a:xfrm>
            <a:off x="4983480" y="1874520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6" name="Text 154"/>
          <p:cNvSpPr txBox="1"/>
          <p:nvPr/>
        </p:nvSpPr>
        <p:spPr>
          <a:xfrm>
            <a:off x="4983480" y="187452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성공 (1건)</a:t>
            </a:r>
            <a:endParaRPr lang="en-US" sz="700" dirty="0"/>
          </a:p>
        </p:txBody>
      </p:sp>
      <p:sp>
        <p:nvSpPr>
          <p:cNvPr id="157" name="Text 155"/>
          <p:cNvSpPr txBox="1"/>
          <p:nvPr/>
        </p:nvSpPr>
        <p:spPr>
          <a:xfrm>
            <a:off x="4983480" y="2075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세종시 청년 월세 특별지원 (2차)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4983480" y="2340864"/>
            <a:ext cx="2697480" cy="420624"/>
          </a:xfrm>
          <a:prstGeom prst="roundRect">
            <a:avLst>
              <a:gd name="adj" fmla="val 8696"/>
            </a:avLst>
          </a:prstGeom>
          <a:solidFill>
            <a:srgbClr val="10386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9" name="Text 157"/>
          <p:cNvSpPr txBox="1"/>
          <p:nvPr/>
        </p:nvSpPr>
        <p:spPr>
          <a:xfrm>
            <a:off x="5093208" y="23408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CC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최대 지원액
</a:t>
            </a:r>
            <a:r>
              <a:rPr lang="en-US" sz="1250" b="1" dirty="0">
                <a:solidFill>
                  <a:srgbClr val="1B9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200,000원/월</a:t>
            </a:r>
            <a:endParaRPr lang="en-US" sz="750" dirty="0"/>
          </a:p>
        </p:txBody>
      </p:sp>
      <p:sp>
        <p:nvSpPr>
          <p:cNvPr id="160" name="Text 158"/>
          <p:cNvSpPr txBox="1"/>
          <p:nvPr/>
        </p:nvSpPr>
        <p:spPr>
          <a:xfrm>
            <a:off x="6373368" y="23408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750" dirty="0">
                <a:solidFill>
                  <a:srgbClr val="9CC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절감 환산액
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2,400,000원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4855464" y="2962656"/>
            <a:ext cx="2953512" cy="1207008"/>
          </a:xfrm>
          <a:prstGeom prst="roundRect">
            <a:avLst>
              <a:gd name="adj" fmla="val 3788"/>
            </a:avLst>
          </a:prstGeom>
          <a:solidFill>
            <a:srgbClr val="FBEFE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2" name="Text 160"/>
          <p:cNvSpPr txBox="1"/>
          <p:nvPr/>
        </p:nvSpPr>
        <p:spPr>
          <a:xfrm>
            <a:off x="4983480" y="30540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지원 불가 사각지대 판정 사유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4983480" y="3310128"/>
            <a:ext cx="26974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4" name="Text 162"/>
          <p:cNvSpPr txBox="1"/>
          <p:nvPr/>
        </p:nvSpPr>
        <p:spPr>
          <a:xfrm>
            <a:off x="5093208" y="331012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“기존 주택도시기금 버팀목 대출을 수혜 중이어서, 세종시 전세보증금 이자지원(최대 4.1%) 중복 신청이 불가합니다.”</a:t>
            </a:r>
            <a:endParaRPr lang="en-US" sz="900" dirty="0"/>
          </a:p>
        </p:txBody>
      </p:sp>
      <p:sp>
        <p:nvSpPr>
          <p:cNvPr id="165" name="Text 163"/>
          <p:cNvSpPr txBox="1"/>
          <p:nvPr/>
        </p:nvSpPr>
        <p:spPr>
          <a:xfrm>
            <a:off x="498348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ⓘ 배제 사유와 근거 규정이 함께 기록됩니다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4855464" y="4261104"/>
            <a:ext cx="2953512" cy="1737360"/>
          </a:xfrm>
          <a:prstGeom prst="roundRect">
            <a:avLst>
              <a:gd name="adj" fmla="val 2632"/>
            </a:avLst>
          </a:prstGeom>
          <a:solidFill>
            <a:srgbClr val="E7EE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7" name="Text 165"/>
          <p:cNvSpPr txBox="1"/>
          <p:nvPr/>
        </p:nvSpPr>
        <p:spPr>
          <a:xfrm>
            <a:off x="4983480" y="43525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탈락한 청년의 목소리 시정 반영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7104888" y="4352544"/>
            <a:ext cx="694944" cy="182880"/>
          </a:xfrm>
          <a:prstGeom prst="roundRect">
            <a:avLst>
              <a:gd name="adj" fmla="val 50000"/>
            </a:avLst>
          </a:prstGeom>
          <a:solidFill>
            <a:srgbClr val="BDE1F5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9" name="Text 167"/>
          <p:cNvSpPr txBox="1"/>
          <p:nvPr/>
        </p:nvSpPr>
        <p:spPr>
          <a:xfrm>
            <a:off x="7104888" y="435254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즉시 설문</a:t>
            </a:r>
            <a:endParaRPr lang="en-US" sz="700" dirty="0"/>
          </a:p>
        </p:txBody>
      </p:sp>
      <p:sp>
        <p:nvSpPr>
          <p:cNvPr id="170" name="Text 168"/>
          <p:cNvSpPr txBox="1"/>
          <p:nvPr/>
        </p:nvSpPr>
        <p:spPr>
          <a:xfrm>
            <a:off x="498348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뼈아픈 지출 항목을 선택해 주세요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4983480" y="4791456"/>
            <a:ext cx="13121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05BA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2" name="Shape 170"/>
          <p:cNvSpPr/>
          <p:nvPr/>
        </p:nvSpPr>
        <p:spPr>
          <a:xfrm>
            <a:off x="5056632" y="4864608"/>
            <a:ext cx="91440" cy="91440"/>
          </a:xfrm>
          <a:prstGeom prst="ellipse">
            <a:avLst/>
          </a:prstGeom>
          <a:solidFill>
            <a:srgbClr val="005BAC"/>
          </a:solidFill>
          <a:ln w="9525">
            <a:solidFill>
              <a:srgbClr val="005BA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3" name="Text 171"/>
          <p:cNvSpPr txBox="1"/>
          <p:nvPr/>
        </p:nvSpPr>
        <p:spPr>
          <a:xfrm>
            <a:off x="5202936" y="4791456"/>
            <a:ext cx="103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중개수수료 부담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6368796" y="4791456"/>
            <a:ext cx="13121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5" name="Shape 173"/>
          <p:cNvSpPr/>
          <p:nvPr/>
        </p:nvSpPr>
        <p:spPr>
          <a:xfrm>
            <a:off x="6441948" y="4864608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6" name="Text 174"/>
          <p:cNvSpPr txBox="1"/>
          <p:nvPr/>
        </p:nvSpPr>
        <p:spPr>
          <a:xfrm>
            <a:off x="6588252" y="4791456"/>
            <a:ext cx="103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보증금 반환보증료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4983480" y="5084064"/>
            <a:ext cx="13121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8" name="Shape 176"/>
          <p:cNvSpPr/>
          <p:nvPr/>
        </p:nvSpPr>
        <p:spPr>
          <a:xfrm>
            <a:off x="5056632" y="51572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9" name="Text 177"/>
          <p:cNvSpPr txBox="1"/>
          <p:nvPr/>
        </p:nvSpPr>
        <p:spPr>
          <a:xfrm>
            <a:off x="5202936" y="5084064"/>
            <a:ext cx="103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· 포장 비용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6368796" y="5084064"/>
            <a:ext cx="131216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1" name="Shape 179"/>
          <p:cNvSpPr/>
          <p:nvPr/>
        </p:nvSpPr>
        <p:spPr>
          <a:xfrm>
            <a:off x="6441948" y="51572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2" name="Text 180"/>
          <p:cNvSpPr txBox="1"/>
          <p:nvPr/>
        </p:nvSpPr>
        <p:spPr>
          <a:xfrm>
            <a:off x="6588252" y="5084064"/>
            <a:ext cx="103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깜깜이 관리비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4983480" y="5413248"/>
            <a:ext cx="2697480" cy="274320"/>
          </a:xfrm>
          <a:prstGeom prst="roundRect">
            <a:avLst>
              <a:gd name="adj" fmla="val 13333"/>
            </a:avLst>
          </a:prstGeom>
          <a:solidFill>
            <a:srgbClr val="07294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4" name="Text 182"/>
          <p:cNvSpPr txBox="1"/>
          <p:nvPr/>
        </p:nvSpPr>
        <p:spPr>
          <a:xfrm>
            <a:off x="4983480" y="5413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▷  세종시 주거정책 데이터베이스에 전송</a:t>
            </a:r>
            <a:endParaRPr lang="en-US" sz="850" dirty="0"/>
          </a:p>
        </p:txBody>
      </p:sp>
      <p:sp>
        <p:nvSpPr>
          <p:cNvPr id="185" name="Text 183"/>
          <p:cNvSpPr txBox="1"/>
          <p:nvPr/>
        </p:nvSpPr>
        <p:spPr>
          <a:xfrm>
            <a:off x="4855464" y="577900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가장 많은 탈락 사유 — 1위 중복대출 제한 48%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8229600" y="1298448"/>
            <a:ext cx="3383280" cy="1115568"/>
          </a:xfrm>
          <a:prstGeom prst="roundRect">
            <a:avLst>
              <a:gd name="adj" fmla="val 4918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7" name="Text 185"/>
          <p:cNvSpPr txBox="1"/>
          <p:nvPr/>
        </p:nvSpPr>
        <p:spPr>
          <a:xfrm>
            <a:off x="8375904" y="13898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8" name="Text 186"/>
          <p:cNvSpPr txBox="1"/>
          <p:nvPr/>
        </p:nvSpPr>
        <p:spPr>
          <a:xfrm>
            <a:off x="8778240" y="13898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자가진단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8375904" y="1700784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나이·거주 이력, 소득·자산, 주택 유형, 기존 대출을 입력하면 국가·세종시 제도를 한 번에 대조</a:t>
            </a:r>
            <a:endParaRPr lang="en-US" sz="950" dirty="0"/>
          </a:p>
        </p:txBody>
      </p:sp>
      <p:sp>
        <p:nvSpPr>
          <p:cNvPr id="190" name="Shape 188"/>
          <p:cNvSpPr/>
          <p:nvPr/>
        </p:nvSpPr>
        <p:spPr>
          <a:xfrm>
            <a:off x="8229600" y="2542032"/>
            <a:ext cx="3383280" cy="1115568"/>
          </a:xfrm>
          <a:prstGeom prst="roundRect">
            <a:avLst>
              <a:gd name="adj" fmla="val 4918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1" name="Text 189"/>
          <p:cNvSpPr txBox="1"/>
          <p:nvPr/>
        </p:nvSpPr>
        <p:spPr>
          <a:xfrm>
            <a:off x="8375904" y="2633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2" name="Text 190"/>
          <p:cNvSpPr txBox="1"/>
          <p:nvPr/>
        </p:nvSpPr>
        <p:spPr>
          <a:xfrm>
            <a:off x="8778240" y="26334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수혜 가능 제도 안내</a:t>
            </a:r>
            <a:endParaRPr lang="en-US" sz="1200" dirty="0"/>
          </a:p>
        </p:txBody>
      </p:sp>
      <p:sp>
        <p:nvSpPr>
          <p:cNvPr id="193" name="Text 191"/>
          <p:cNvSpPr txBox="1"/>
          <p:nvPr/>
        </p:nvSpPr>
        <p:spPr>
          <a:xfrm>
            <a:off x="8375904" y="294436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 지원과 금액을 월·연 단위로 환산해 제시</a:t>
            </a:r>
            <a:endParaRPr lang="en-US" sz="950" dirty="0"/>
          </a:p>
        </p:txBody>
      </p:sp>
      <p:sp>
        <p:nvSpPr>
          <p:cNvPr id="194" name="Shape 192"/>
          <p:cNvSpPr/>
          <p:nvPr/>
        </p:nvSpPr>
        <p:spPr>
          <a:xfrm>
            <a:off x="8229600" y="3785616"/>
            <a:ext cx="3383280" cy="1115568"/>
          </a:xfrm>
          <a:prstGeom prst="roundRect">
            <a:avLst>
              <a:gd name="adj" fmla="val 4918"/>
            </a:avLst>
          </a:prstGeom>
          <a:solidFill>
            <a:srgbClr val="FFF9EF"/>
          </a:solidFill>
          <a:ln w="13970">
            <a:solidFill>
              <a:srgbClr val="A98A5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5" name="Text 193"/>
          <p:cNvSpPr txBox="1"/>
          <p:nvPr/>
        </p:nvSpPr>
        <p:spPr>
          <a:xfrm>
            <a:off x="8375904" y="3877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6" name="Text 194"/>
          <p:cNvSpPr txBox="1"/>
          <p:nvPr/>
        </p:nvSpPr>
        <p:spPr>
          <a:xfrm>
            <a:off x="8778240" y="387705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판정</a:t>
            </a:r>
            <a:endParaRPr lang="en-US" sz="1200" dirty="0"/>
          </a:p>
        </p:txBody>
      </p:sp>
      <p:sp>
        <p:nvSpPr>
          <p:cNvPr id="197" name="Text 195"/>
          <p:cNvSpPr txBox="1"/>
          <p:nvPr/>
        </p:nvSpPr>
        <p:spPr>
          <a:xfrm>
            <a:off x="8375904" y="418795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‘해당 없음’에서 멈추지 않고 배제 사유와 근거 규정을 명시해 기록</a:t>
            </a:r>
            <a:endParaRPr lang="en-US" sz="950" dirty="0"/>
          </a:p>
        </p:txBody>
      </p:sp>
      <p:sp>
        <p:nvSpPr>
          <p:cNvPr id="198" name="Shape 196"/>
          <p:cNvSpPr/>
          <p:nvPr/>
        </p:nvSpPr>
        <p:spPr>
          <a:xfrm>
            <a:off x="8229600" y="5029200"/>
            <a:ext cx="3383280" cy="1115568"/>
          </a:xfrm>
          <a:prstGeom prst="roundRect">
            <a:avLst>
              <a:gd name="adj" fmla="val 4918"/>
            </a:avLst>
          </a:prstGeom>
          <a:solidFill>
            <a:srgbClr val="FFF9EF"/>
          </a:solidFill>
          <a:ln w="13970">
            <a:solidFill>
              <a:srgbClr val="A98A5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9" name="Text 197"/>
          <p:cNvSpPr txBox="1"/>
          <p:nvPr/>
        </p:nvSpPr>
        <p:spPr>
          <a:xfrm>
            <a:off x="8375904" y="5120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0" name="Text 198"/>
          <p:cNvSpPr txBox="1"/>
          <p:nvPr/>
        </p:nvSpPr>
        <p:spPr>
          <a:xfrm>
            <a:off x="8778240" y="512064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역제안 수집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8375904" y="543153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탈락한 청년이 실제 부담 항목을 선택 — 어느 행정통계에도 없던 데이터</a:t>
            </a:r>
            <a:endParaRPr lang="en-US" sz="950" dirty="0"/>
          </a:p>
        </p:txBody>
      </p:sp>
      <p:sp>
        <p:nvSpPr>
          <p:cNvPr id="202" name="Text 200"/>
          <p:cNvSpPr txBox="1"/>
          <p:nvPr/>
        </p:nvSpPr>
        <p:spPr>
          <a:xfrm>
            <a:off x="8229600" y="6272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기획 단계의 프로토타입이며, 표시된 수치는 예시입니다. · 디자인 원본: Figma</a:t>
            </a:r>
            <a:endParaRPr lang="en-US" sz="800" dirty="0"/>
          </a:p>
        </p:txBody>
      </p:sp>
      <p:pic>
        <p:nvPicPr>
          <p:cNvPr id="206" name="그림 205" descr="텍스트, 휴대 전화, 정보기기, 휴대용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1FCBD4-0CF1-9814-87F7-043D7227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38" y="1215648"/>
            <a:ext cx="4084754" cy="2286000"/>
          </a:xfrm>
          <a:prstGeom prst="rect">
            <a:avLst/>
          </a:prstGeom>
        </p:spPr>
      </p:pic>
      <p:pic>
        <p:nvPicPr>
          <p:cNvPr id="208" name="그림 20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D9CFA9-0C5C-4C2A-4E0B-C6828DFBF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" y="3720956"/>
            <a:ext cx="3751340" cy="29639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가능성: 근거·관문·재정·자문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1719072"/>
            <a:ext cx="457200" cy="457200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5270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데이터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2704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지방재정365 FY2024~26 공시, 2026년 사업 공고·FAQ 전수 분석, 국토부 주거실태조사(2024), 통계청 이동통계 — 모두 공개 자료로 재검증 가능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624328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73405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 관문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734056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항목 변경은 사회보장기본법상 협의·지방보조금 심의 대상 — 신규 제도가 아닌 기존 사업의 항목 조정으로 설계해 부담 최소화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831336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4133088"/>
            <a:ext cx="457200" cy="457200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44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94106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 소요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941064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총예산 불변의 재배분안. 다년도 소요 추계표를 부속서로 제시 — 이자지원의 6년 누적 구조 대비 진입비용 지원은 일회성 지출로 예측 가능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038344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5340096"/>
            <a:ext cx="457200" cy="457200"/>
          </a:xfrm>
          <a:prstGeom prst="ellipse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1440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1480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 네트워크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148072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이승원 前 세종시 경제부시장 서면 자문 확보(2026.9) · 세종시 청년정책담당관 면담 추진 예정 · 지도교수 코칭 및 전·현직 실무자 자문 미팅 2회(1·6주차) 계획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093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고지: 신규 모집 축소의 원인(연장분 예산 잠식 가설)과 사업별 예산액은 담당 부서 확인 후 확정 — 본 제안은 공개 자료로 검증된 사실만을 전제로 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예산, 더 넓은 문, 남는 데이터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11556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수치는 본 제안이 달성하고자 하는 목표치로, 10주 활동을 통해 검증·확정할 대상입니다.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682496"/>
            <a:ext cx="324612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8배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71293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예산 수혜 인원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45613"/>
            <a:ext cx="32461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이자지원(2년 820만원) 대비 진입비용(약 100만원) 기준 시산 — 활동 중 실측 검증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572768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26280" y="1682496"/>
            <a:ext cx="324612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9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 → 수십 명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71293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진입의 문 확대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845613"/>
            <a:ext cx="32461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변경안 채택 시 연간 신규 수혜 규모 — 예산 배분율에 따라 결정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1572768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229600" y="1682496"/>
            <a:ext cx="324612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→ 1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571293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 데이터 구축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845613"/>
            <a:ext cx="32461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‘누가 왜 배제되는가’를 기록하는 최초의 상시 채널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10927080" cy="1234440"/>
          </a:xfrm>
          <a:prstGeom prst="roundRect">
            <a:avLst>
              <a:gd name="adj" fmla="val 4444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379476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프레임의 전환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‘현재 거주자 우대’에서 ‘전입 유도형’으로 — 직주근접이 청년 이동의 1순위(54.7%, 주거실태조사)인 만큼, 주거 지원은 유입된 청년을 정착시키는 안전망으로 자리매김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5074920"/>
            <a:ext cx="10927080" cy="1234440"/>
          </a:xfrm>
          <a:prstGeom prst="roundRect">
            <a:avLst>
              <a:gd name="adj" fmla="val 4444"/>
            </a:avLst>
          </a:prstGeom>
          <a:solidFill>
            <a:srgbClr val="DCEAF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14400" y="521208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SDGs 연계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불평등 완화 — 소득·주거형태에 따른 정책 접근성 격차 해소  |  11. 지속가능한 도시와 공동체 — 청년 순유출 도시의 정주 기반 강화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 txBox="1"/>
          <p:nvPr/>
        </p:nvSpPr>
        <p:spPr>
          <a:xfrm rot="16200000">
            <a:off x="-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靑定 세종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계획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" cy="402336"/>
          </a:xfrm>
          <a:prstGeom prst="rect">
            <a:avLst/>
          </a:prstGeom>
          <a:solidFill>
            <a:srgbClr val="005BA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4572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 활동 로드맵과 팀 청정 세종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1–2주차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정의·리서치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5915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 미팅 1차, 설문 설계,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모델 확정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46304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593592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3–6주차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개발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35915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프론트·백엔드,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대시보드, 1차 완성·배포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146304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DF4FB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364224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7–8주차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검증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35915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사용성 테스트 2회,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변경안 최종화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97696" y="146304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0A3D74"/>
          </a:solidFill>
          <a:ln w="9525">
            <a:solidFill>
              <a:srgbClr val="0A3D7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134856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C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9–10주차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34856" y="235915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발표자료·리허설,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 최종 성과발표회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 |  총 4명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85800" y="42245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4407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도건우</a:t>
            </a:r>
            <a:r>
              <a:rPr lang="en-US" sz="10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팀 대표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경제정책학전공 · 재학 4학기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42245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3593592" y="4407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강나연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593592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글로벌경영전공 · 재학 6학기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27064" y="42245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64224" y="4407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강예진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경제정책학전공 · 재학 6학기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97696" y="42245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FDCE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134856" y="4407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3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이윤진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134856" y="4773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경제정책학전공 · 재학 6학기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5577840"/>
            <a:ext cx="10927080" cy="822960"/>
          </a:xfrm>
          <a:prstGeom prst="roundRect">
            <a:avLst>
              <a:gd name="adj" fmla="val 6667"/>
            </a:avLst>
          </a:prstGeom>
          <a:solidFill>
            <a:srgbClr val="0A3D74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914400" y="557784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5명의 문을 넓히는 일 — 10주간 검증하고, 실물과 정책안으로 제출하겠습니다.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1595</Words>
  <Application>Microsoft Macintosh PowerPoint</Application>
  <PresentationFormat>와이드스크린</PresentationFormat>
  <Paragraphs>291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이윤진[ 학부재학 / 경제통계학부 경제정책학전공 ]</cp:lastModifiedBy>
  <cp:revision>2</cp:revision>
  <dcterms:created xsi:type="dcterms:W3CDTF">2026-09-16T09:11:12Z</dcterms:created>
  <dcterms:modified xsi:type="dcterms:W3CDTF">2026-09-16T12:57:52Z</dcterms:modified>
</cp:coreProperties>
</file>